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y="5143500" cx="9144000"/>
  <p:notesSz cx="6858000" cy="9144000"/>
  <p:embeddedFontLst>
    <p:embeddedFont>
      <p:font typeface="Noto Sans SemiBold"/>
      <p:regular r:id="rId19"/>
      <p:bold r:id="rId20"/>
      <p:italic r:id="rId21"/>
      <p:boldItalic r:id="rId22"/>
    </p:embeddedFont>
    <p:embeddedFont>
      <p:font typeface="Noto Sans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otoSansSemiBold-bold.fntdata"/><Relationship Id="rId22" Type="http://schemas.openxmlformats.org/officeDocument/2006/relationships/font" Target="fonts/NotoSansSemiBold-boldItalic.fntdata"/><Relationship Id="rId21" Type="http://schemas.openxmlformats.org/officeDocument/2006/relationships/font" Target="fonts/NotoSansSemiBold-italic.fntdata"/><Relationship Id="rId24" Type="http://schemas.openxmlformats.org/officeDocument/2006/relationships/font" Target="fonts/NotoSans-bold.fntdata"/><Relationship Id="rId23" Type="http://schemas.openxmlformats.org/officeDocument/2006/relationships/font" Target="fonts/NotoSans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NotoSans-boldItalic.fntdata"/><Relationship Id="rId25" Type="http://schemas.openxmlformats.org/officeDocument/2006/relationships/font" Target="fonts/NotoSans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font" Target="fonts/NotoSansSemiBold-regular.fntdata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a83d44002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a83d44002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a83d440026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a83d440026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a83d440026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a83d440026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a83d440026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a83d440026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a83d440026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a83d440026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83d44002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a83d44002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a92332b40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a92332b40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a83d440026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a83d440026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a83d440026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a83d440026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a83d440026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a83d440026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83d440026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a83d440026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a83d440026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a83d440026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a83d44002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a83d44002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AI for good IS S1.png"/>
          <p:cNvPicPr preferRelativeResize="0"/>
          <p:nvPr/>
        </p:nvPicPr>
        <p:blipFill rotWithShape="1">
          <a:blip r:embed="rId3">
            <a:alphaModFix/>
          </a:blip>
          <a:srcRect b="50000" l="0" r="0" t="0"/>
          <a:stretch/>
        </p:blipFill>
        <p:spPr>
          <a:xfrm>
            <a:off x="0" y="0"/>
            <a:ext cx="9144000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AI for good IS S1.png"/>
          <p:cNvPicPr preferRelativeResize="0"/>
          <p:nvPr/>
        </p:nvPicPr>
        <p:blipFill rotWithShape="1">
          <a:blip r:embed="rId3">
            <a:alphaModFix/>
          </a:blip>
          <a:srcRect b="0" l="0" r="0"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146600" y="2895500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Noto Sans SemiBold"/>
                <a:ea typeface="Noto Sans SemiBold"/>
                <a:cs typeface="Noto Sans SemiBold"/>
                <a:sym typeface="Noto Sans SemiBold"/>
              </a:rPr>
              <a:t>Team Details</a:t>
            </a:r>
            <a:endParaRPr sz="1800"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Noto Sans SemiBold"/>
              <a:buAutoNum type="alphaLcPeriod"/>
            </a:pPr>
            <a:r>
              <a:rPr lang="en-GB" sz="1800">
                <a:latin typeface="Noto Sans SemiBold"/>
                <a:ea typeface="Noto Sans SemiBold"/>
                <a:cs typeface="Noto Sans SemiBold"/>
                <a:sym typeface="Noto Sans SemiBold"/>
              </a:rPr>
              <a:t>Team name: </a:t>
            </a:r>
            <a:endParaRPr sz="1800"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Noto Sans SemiBold"/>
              <a:buAutoNum type="alphaLcPeriod"/>
            </a:pPr>
            <a:r>
              <a:rPr lang="en-GB" sz="1800">
                <a:latin typeface="Noto Sans SemiBold"/>
                <a:ea typeface="Noto Sans SemiBold"/>
                <a:cs typeface="Noto Sans SemiBold"/>
                <a:sym typeface="Noto Sans SemiBold"/>
              </a:rPr>
              <a:t>Team leader name: </a:t>
            </a:r>
            <a:endParaRPr sz="1800"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Noto Sans SemiBold"/>
              <a:buAutoNum type="alphaLcPeriod"/>
            </a:pPr>
            <a:r>
              <a:rPr lang="en-GB" sz="1800">
                <a:latin typeface="Noto Sans SemiBold"/>
                <a:ea typeface="Noto Sans SemiBold"/>
                <a:cs typeface="Noto Sans SemiBold"/>
                <a:sym typeface="Noto Sans SemiBold"/>
              </a:rPr>
              <a:t>Problem Statement: </a:t>
            </a:r>
            <a:endParaRPr sz="1800">
              <a:latin typeface="Noto Sans SemiBold"/>
              <a:ea typeface="Noto Sans SemiBold"/>
              <a:cs typeface="Noto Sans SemiBold"/>
              <a:sym typeface="Noto Sans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Noto Sans SemiBold"/>
              <a:ea typeface="Noto Sans SemiBold"/>
              <a:cs typeface="Noto Sans SemiBold"/>
              <a:sym typeface="Noto Sans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AI for good IS S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4" title="AI for good IS S2.png"/>
          <p:cNvPicPr preferRelativeResize="0"/>
          <p:nvPr/>
        </p:nvPicPr>
        <p:blipFill rotWithShape="1">
          <a:blip r:embed="rId3">
            <a:alphaModFix/>
          </a:blip>
          <a:srcRect b="0" l="0" r="0" t="97713"/>
          <a:stretch/>
        </p:blipFill>
        <p:spPr>
          <a:xfrm>
            <a:off x="0" y="5025875"/>
            <a:ext cx="9144000" cy="1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265350" y="701175"/>
            <a:ext cx="66471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latin typeface="Noto Sans"/>
                <a:ea typeface="Noto Sans"/>
                <a:cs typeface="Noto Sans"/>
                <a:sym typeface="Noto Sans"/>
              </a:rPr>
              <a:t>Brief about the idea/protoype</a:t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265350" y="1123250"/>
            <a:ext cx="8644500" cy="3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Type here…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AI for good IS S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5" title="AI for good IS S2.png"/>
          <p:cNvPicPr preferRelativeResize="0"/>
          <p:nvPr/>
        </p:nvPicPr>
        <p:blipFill rotWithShape="1">
          <a:blip r:embed="rId3">
            <a:alphaModFix/>
          </a:blip>
          <a:srcRect b="0" l="0" r="0" t="97713"/>
          <a:stretch/>
        </p:blipFill>
        <p:spPr>
          <a:xfrm>
            <a:off x="0" y="5025875"/>
            <a:ext cx="9144000" cy="1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/>
        </p:nvSpPr>
        <p:spPr>
          <a:xfrm>
            <a:off x="265350" y="701175"/>
            <a:ext cx="6647100" cy="13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latin typeface="Noto Sans"/>
                <a:ea typeface="Noto Sans"/>
                <a:cs typeface="Noto Sans"/>
                <a:sym typeface="Noto Sans"/>
              </a:rPr>
              <a:t>Opportunities</a:t>
            </a:r>
            <a:br>
              <a:rPr b="1" lang="en-GB" sz="1600">
                <a:latin typeface="Noto Sans"/>
                <a:ea typeface="Noto Sans"/>
                <a:cs typeface="Noto Sans"/>
                <a:sym typeface="Noto Sans"/>
              </a:rPr>
            </a:br>
            <a:endParaRPr b="1" sz="1600"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Noto Sans"/>
              <a:buChar char="●"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How different is it from any of the other existing ideas?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Noto Sans"/>
              <a:buChar char="●"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How will it be able to solve the problem?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Noto Sans"/>
              <a:buChar char="●"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USP of the proposed solution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AI for good IS S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AI for good IS S2.png"/>
          <p:cNvPicPr preferRelativeResize="0"/>
          <p:nvPr/>
        </p:nvPicPr>
        <p:blipFill rotWithShape="1">
          <a:blip r:embed="rId3">
            <a:alphaModFix/>
          </a:blip>
          <a:srcRect b="0" l="0" r="0" t="97713"/>
          <a:stretch/>
        </p:blipFill>
        <p:spPr>
          <a:xfrm>
            <a:off x="0" y="5025875"/>
            <a:ext cx="9144000" cy="1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/>
        </p:nvSpPr>
        <p:spPr>
          <a:xfrm>
            <a:off x="265350" y="701175"/>
            <a:ext cx="66471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latin typeface="Noto Sans"/>
                <a:ea typeface="Noto Sans"/>
                <a:cs typeface="Noto Sans"/>
                <a:sym typeface="Noto Sans"/>
              </a:rPr>
              <a:t>List of features offered by the solution</a:t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1123250"/>
            <a:ext cx="8644500" cy="3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Type here…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AI for good IS S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AI for good IS S2.png"/>
          <p:cNvPicPr preferRelativeResize="0"/>
          <p:nvPr/>
        </p:nvPicPr>
        <p:blipFill rotWithShape="1">
          <a:blip r:embed="rId3">
            <a:alphaModFix/>
          </a:blip>
          <a:srcRect b="0" l="0" r="0" t="97713"/>
          <a:stretch/>
        </p:blipFill>
        <p:spPr>
          <a:xfrm>
            <a:off x="0" y="5025875"/>
            <a:ext cx="9144000" cy="1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 txBox="1"/>
          <p:nvPr/>
        </p:nvSpPr>
        <p:spPr>
          <a:xfrm>
            <a:off x="265350" y="701175"/>
            <a:ext cx="66471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latin typeface="Noto Sans"/>
                <a:ea typeface="Noto Sans"/>
                <a:cs typeface="Noto Sans"/>
                <a:sym typeface="Noto Sans"/>
              </a:rPr>
              <a:t>Process flow diagram or Use-case diagram</a:t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1123250"/>
            <a:ext cx="8644500" cy="3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Type here…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AI for good IS S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AI for good IS S2.png"/>
          <p:cNvPicPr preferRelativeResize="0"/>
          <p:nvPr/>
        </p:nvPicPr>
        <p:blipFill rotWithShape="1">
          <a:blip r:embed="rId3">
            <a:alphaModFix/>
          </a:blip>
          <a:srcRect b="0" l="0" r="0" t="97713"/>
          <a:stretch/>
        </p:blipFill>
        <p:spPr>
          <a:xfrm>
            <a:off x="0" y="5025875"/>
            <a:ext cx="9144000" cy="1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 txBox="1"/>
          <p:nvPr/>
        </p:nvSpPr>
        <p:spPr>
          <a:xfrm>
            <a:off x="265350" y="701175"/>
            <a:ext cx="66471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latin typeface="Noto Sans"/>
                <a:ea typeface="Noto Sans"/>
                <a:cs typeface="Noto Sans"/>
                <a:sym typeface="Noto Sans"/>
              </a:rPr>
              <a:t>Architecture diagram of the proposed solution</a:t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1123250"/>
            <a:ext cx="8644500" cy="3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Type here…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AI for good IS S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AI for good IS S2.png"/>
          <p:cNvPicPr preferRelativeResize="0"/>
          <p:nvPr/>
        </p:nvPicPr>
        <p:blipFill rotWithShape="1">
          <a:blip r:embed="rId3">
            <a:alphaModFix/>
          </a:blip>
          <a:srcRect b="0" l="0" r="0" t="97713"/>
          <a:stretch/>
        </p:blipFill>
        <p:spPr>
          <a:xfrm>
            <a:off x="0" y="5025875"/>
            <a:ext cx="9144000" cy="1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 txBox="1"/>
          <p:nvPr/>
        </p:nvSpPr>
        <p:spPr>
          <a:xfrm>
            <a:off x="265350" y="701175"/>
            <a:ext cx="66471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latin typeface="Noto Sans"/>
                <a:ea typeface="Noto Sans"/>
                <a:cs typeface="Noto Sans"/>
                <a:sym typeface="Noto Sans"/>
              </a:rPr>
              <a:t>Tech Stack</a:t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1123250"/>
            <a:ext cx="8644500" cy="3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Type here…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AI for good IS S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AI for good IS S2.png"/>
          <p:cNvPicPr preferRelativeResize="0"/>
          <p:nvPr/>
        </p:nvPicPr>
        <p:blipFill rotWithShape="1">
          <a:blip r:embed="rId3">
            <a:alphaModFix/>
          </a:blip>
          <a:srcRect b="0" l="0" r="0" t="97713"/>
          <a:stretch/>
        </p:blipFill>
        <p:spPr>
          <a:xfrm>
            <a:off x="0" y="5025875"/>
            <a:ext cx="9144000" cy="1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 txBox="1"/>
          <p:nvPr/>
        </p:nvSpPr>
        <p:spPr>
          <a:xfrm>
            <a:off x="265350" y="701175"/>
            <a:ext cx="66471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latin typeface="Noto Sans"/>
                <a:ea typeface="Noto Sans"/>
                <a:cs typeface="Noto Sans"/>
                <a:sym typeface="Noto Sans"/>
              </a:rPr>
              <a:t>Snowflake tools and technology used</a:t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1123250"/>
            <a:ext cx="8644500" cy="3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Type here…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AI for good IS S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AI for good IS S2.png"/>
          <p:cNvPicPr preferRelativeResize="0"/>
          <p:nvPr/>
        </p:nvPicPr>
        <p:blipFill rotWithShape="1">
          <a:blip r:embed="rId3">
            <a:alphaModFix/>
          </a:blip>
          <a:srcRect b="0" l="0" r="0" t="97713"/>
          <a:stretch/>
        </p:blipFill>
        <p:spPr>
          <a:xfrm>
            <a:off x="0" y="5025875"/>
            <a:ext cx="9144000" cy="1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 txBox="1"/>
          <p:nvPr/>
        </p:nvSpPr>
        <p:spPr>
          <a:xfrm>
            <a:off x="265350" y="701175"/>
            <a:ext cx="66471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latin typeface="Noto Sans"/>
                <a:ea typeface="Noto Sans"/>
                <a:cs typeface="Noto Sans"/>
                <a:sym typeface="Noto Sans"/>
              </a:rPr>
              <a:t>Snapshots of the prototype</a:t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2" title="AI for good IS S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2" title="AI for good IS S2.png"/>
          <p:cNvPicPr preferRelativeResize="0"/>
          <p:nvPr/>
        </p:nvPicPr>
        <p:blipFill rotWithShape="1">
          <a:blip r:embed="rId3">
            <a:alphaModFix/>
          </a:blip>
          <a:srcRect b="0" l="0" r="0" t="97713"/>
          <a:stretch/>
        </p:blipFill>
        <p:spPr>
          <a:xfrm>
            <a:off x="0" y="5025875"/>
            <a:ext cx="9144000" cy="1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2"/>
          <p:cNvSpPr txBox="1"/>
          <p:nvPr/>
        </p:nvSpPr>
        <p:spPr>
          <a:xfrm>
            <a:off x="265350" y="701175"/>
            <a:ext cx="66471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latin typeface="Noto Sans"/>
                <a:ea typeface="Noto Sans"/>
                <a:cs typeface="Noto Sans"/>
                <a:sym typeface="Noto Sans"/>
              </a:rPr>
              <a:t>Estimated implementation cost (optional)</a:t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26" name="Google Shape;126;p22"/>
          <p:cNvSpPr txBox="1"/>
          <p:nvPr/>
        </p:nvSpPr>
        <p:spPr>
          <a:xfrm>
            <a:off x="265350" y="1123250"/>
            <a:ext cx="8644500" cy="3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Type here…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3" title="AI for good IS S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3" title="AI for good IS S2.png"/>
          <p:cNvPicPr preferRelativeResize="0"/>
          <p:nvPr/>
        </p:nvPicPr>
        <p:blipFill rotWithShape="1">
          <a:blip r:embed="rId3">
            <a:alphaModFix/>
          </a:blip>
          <a:srcRect b="0" l="0" r="0" t="97713"/>
          <a:stretch/>
        </p:blipFill>
        <p:spPr>
          <a:xfrm>
            <a:off x="0" y="5025875"/>
            <a:ext cx="9144000" cy="1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3"/>
          <p:cNvSpPr txBox="1"/>
          <p:nvPr/>
        </p:nvSpPr>
        <p:spPr>
          <a:xfrm>
            <a:off x="265350" y="701175"/>
            <a:ext cx="66471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latin typeface="Noto Sans"/>
                <a:ea typeface="Noto Sans"/>
                <a:cs typeface="Noto Sans"/>
                <a:sym typeface="Noto Sans"/>
              </a:rPr>
              <a:t>Additional Details/Future Development (if any)</a:t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34" name="Google Shape;134;p23"/>
          <p:cNvSpPr txBox="1"/>
          <p:nvPr/>
        </p:nvSpPr>
        <p:spPr>
          <a:xfrm>
            <a:off x="265350" y="1123250"/>
            <a:ext cx="8644500" cy="3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Type here…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24" title="AI for good IS S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4" title="AI for good IS S2.png"/>
          <p:cNvPicPr preferRelativeResize="0"/>
          <p:nvPr/>
        </p:nvPicPr>
        <p:blipFill rotWithShape="1">
          <a:blip r:embed="rId3">
            <a:alphaModFix/>
          </a:blip>
          <a:srcRect b="0" l="0" r="0" t="97713"/>
          <a:stretch/>
        </p:blipFill>
        <p:spPr>
          <a:xfrm>
            <a:off x="0" y="5025875"/>
            <a:ext cx="9144000" cy="1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4"/>
          <p:cNvSpPr txBox="1"/>
          <p:nvPr/>
        </p:nvSpPr>
        <p:spPr>
          <a:xfrm>
            <a:off x="265350" y="701175"/>
            <a:ext cx="6647100" cy="4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latin typeface="Noto Sans"/>
                <a:ea typeface="Noto Sans"/>
                <a:cs typeface="Noto Sans"/>
                <a:sym typeface="Noto Sans"/>
              </a:rPr>
              <a:t>GitHub and Demo video URL</a:t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42" name="Google Shape;142;p24"/>
          <p:cNvSpPr txBox="1"/>
          <p:nvPr/>
        </p:nvSpPr>
        <p:spPr>
          <a:xfrm>
            <a:off x="265350" y="1123250"/>
            <a:ext cx="8644500" cy="3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Type here…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 title="AI for good IS S2.png"/>
          <p:cNvPicPr preferRelativeResize="0"/>
          <p:nvPr/>
        </p:nvPicPr>
        <p:blipFill rotWithShape="1">
          <a:blip r:embed="rId3">
            <a:alphaModFix/>
          </a:blip>
          <a:srcRect b="89082" l="0" r="0" t="0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5" title="AI for good IS S2.png"/>
          <p:cNvPicPr preferRelativeResize="0"/>
          <p:nvPr/>
        </p:nvPicPr>
        <p:blipFill rotWithShape="1">
          <a:blip r:embed="rId3">
            <a:alphaModFix/>
          </a:blip>
          <a:srcRect b="0" l="0" r="0" t="97713"/>
          <a:stretch/>
        </p:blipFill>
        <p:spPr>
          <a:xfrm>
            <a:off x="0" y="5025875"/>
            <a:ext cx="9144000" cy="117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5"/>
          <p:cNvSpPr txBox="1"/>
          <p:nvPr/>
        </p:nvSpPr>
        <p:spPr>
          <a:xfrm>
            <a:off x="265350" y="1123250"/>
            <a:ext cx="8644500" cy="3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Noto Sans"/>
                <a:ea typeface="Noto Sans"/>
                <a:cs typeface="Noto Sans"/>
                <a:sym typeface="Noto Sans"/>
              </a:rPr>
              <a:t>Type here…</a:t>
            </a:r>
            <a:endParaRPr sz="1200"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50" name="Google Shape;150;p25"/>
          <p:cNvSpPr txBox="1"/>
          <p:nvPr/>
        </p:nvSpPr>
        <p:spPr>
          <a:xfrm>
            <a:off x="265350" y="701175"/>
            <a:ext cx="6647100" cy="4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26" title="AI for good IS S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