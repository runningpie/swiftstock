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70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embeddedFontLst>
    <p:embeddedFont>
      <p:font typeface="Noto Sans" panose="020B0502040504020204" pitchFamily="34" charset="0"/>
      <p:regular r:id="rId18"/>
      <p:bold r:id="rId19"/>
      <p:italic r:id="rId20"/>
      <p:boldItalic r:id="rId21"/>
    </p:embeddedFont>
    <p:embeddedFont>
      <p:font typeface="Noto Sans SemiBold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8" y="10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83d44002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83d440026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83d44002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83d44002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4716352-2F06-3CD8-2CAF-C00BB338C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83d440026_0_18:notes">
            <a:extLst>
              <a:ext uri="{FF2B5EF4-FFF2-40B4-BE49-F238E27FC236}">
                <a16:creationId xmlns:a16="http://schemas.microsoft.com/office/drawing/2014/main" id="{B321197B-45FF-D22B-7E08-CA7C1F0BA6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83d440026_0_18:notes">
            <a:extLst>
              <a:ext uri="{FF2B5EF4-FFF2-40B4-BE49-F238E27FC236}">
                <a16:creationId xmlns:a16="http://schemas.microsoft.com/office/drawing/2014/main" id="{AC802B2E-E0E9-05C9-C0F7-CDAFE435B2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41649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83d44002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83d44002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3d440026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83d440026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3d44002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3d44002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83d44002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83d440026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2332b40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2332b40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83d44002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83d44002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83d44002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83d44002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83d440026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83d440026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3d440026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83d440026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83d440026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83d440026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83d44002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83d44002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AI for good IS S1.png"/>
          <p:cNvPicPr preferRelativeResize="0"/>
          <p:nvPr/>
        </p:nvPicPr>
        <p:blipFill rotWithShape="1">
          <a:blip r:embed="rId3">
            <a:alphaModFix/>
          </a:blip>
          <a:srcRect b="50000"/>
          <a:stretch/>
        </p:blipFill>
        <p:spPr>
          <a:xfrm>
            <a:off x="0" y="0"/>
            <a:ext cx="914400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AI for good IS S1.png"/>
          <p:cNvPicPr preferRelativeResize="0"/>
          <p:nvPr/>
        </p:nvPicPr>
        <p:blipFill rotWithShape="1">
          <a:blip r:embed="rId3">
            <a:alphaModFix/>
          </a:blip>
          <a:srcRect t="98295"/>
          <a:stretch/>
        </p:blipFill>
        <p:spPr>
          <a:xfrm>
            <a:off x="0" y="5055825"/>
            <a:ext cx="9144000" cy="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latin typeface="Noto Sans SemiBold"/>
                <a:ea typeface="Noto Sans SemiBold"/>
                <a:cs typeface="Noto Sans SemiBold"/>
                <a:sym typeface="Noto Sans SemiBold"/>
              </a:rPr>
              <a:t>Team Details</a:t>
            </a:r>
            <a:endParaRPr sz="1800" dirty="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AutoNum type="alphaLcPeriod"/>
            </a:pPr>
            <a:r>
              <a:rPr lang="en-GB" sz="1800" dirty="0">
                <a:latin typeface="Noto Sans SemiBold"/>
                <a:ea typeface="Noto Sans SemiBold"/>
                <a:cs typeface="Noto Sans SemiBold"/>
                <a:sym typeface="Noto Sans SemiBold"/>
              </a:rPr>
              <a:t>Team name: </a:t>
            </a:r>
            <a:r>
              <a:rPr lang="en-GB" sz="1800" dirty="0" err="1">
                <a:latin typeface="Noto Sans SemiBold"/>
                <a:ea typeface="Noto Sans SemiBold"/>
                <a:cs typeface="Noto Sans SemiBold"/>
                <a:sym typeface="Noto Sans SemiBold"/>
              </a:rPr>
              <a:t>SwiftStock</a:t>
            </a:r>
            <a:endParaRPr sz="1800" dirty="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AutoNum type="alphaLcPeriod"/>
            </a:pPr>
            <a:r>
              <a:rPr lang="en-GB" sz="1800" dirty="0">
                <a:latin typeface="Noto Sans SemiBold"/>
                <a:ea typeface="Noto Sans SemiBold"/>
                <a:cs typeface="Noto Sans SemiBold"/>
                <a:sym typeface="Noto Sans SemiBold"/>
              </a:rPr>
              <a:t>Team leader name: Dama Dhananjaya Daliman</a:t>
            </a:r>
            <a:endParaRPr sz="1800" dirty="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Noto Sans SemiBold"/>
              <a:buAutoNum type="alphaLcPeriod"/>
            </a:pPr>
            <a:r>
              <a:rPr lang="en-GB" sz="1800" dirty="0">
                <a:latin typeface="Noto Sans SemiBold"/>
                <a:ea typeface="Noto Sans SemiBold"/>
                <a:cs typeface="Noto Sans SemiBold"/>
                <a:sym typeface="Noto Sans SemiBold"/>
              </a:rPr>
              <a:t>Problem Statement: </a:t>
            </a:r>
            <a:r>
              <a:rPr lang="en-US" sz="1800" dirty="0">
                <a:latin typeface="Noto Sans SemiBold"/>
                <a:ea typeface="Noto Sans SemiBold"/>
                <a:cs typeface="Noto Sans SemiBold"/>
                <a:sym typeface="Noto Sans SemiBold"/>
              </a:rPr>
              <a:t>Inventory Heatmap &amp; Stock-Out Alerts for Essential Goods</a:t>
            </a:r>
            <a:endParaRPr sz="1800" dirty="0">
              <a:latin typeface="Noto Sans SemiBold"/>
              <a:ea typeface="Noto Sans SemiBold"/>
              <a:cs typeface="Noto Sans SemiBold"/>
              <a:sym typeface="Noto Sans Semi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latin typeface="Noto Sans SemiBold"/>
              <a:ea typeface="Noto Sans SemiBold"/>
              <a:cs typeface="Noto Sans SemiBold"/>
              <a:sym typeface="Noto Sa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Noto Sans"/>
                <a:ea typeface="Noto Sans"/>
                <a:cs typeface="Noto Sans"/>
                <a:sym typeface="Noto Sans"/>
              </a:rPr>
              <a:t>Brief about the idea/</a:t>
            </a:r>
            <a:r>
              <a:rPr lang="en-GB" sz="1600" b="1" dirty="0" err="1">
                <a:latin typeface="Noto Sans"/>
                <a:ea typeface="Noto Sans"/>
                <a:cs typeface="Noto Sans"/>
                <a:sym typeface="Noto Sans"/>
              </a:rPr>
              <a:t>protoype</a:t>
            </a:r>
            <a:endParaRPr sz="1600" b="1" dirty="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The prototype we built is called </a:t>
            </a:r>
            <a:r>
              <a:rPr lang="en-US" sz="1200" dirty="0" err="1">
                <a:latin typeface="Noto Sans"/>
                <a:ea typeface="Noto Sans"/>
                <a:cs typeface="Noto Sans"/>
                <a:sym typeface="Noto Sans"/>
              </a:rPr>
              <a:t>SwiftStock</a:t>
            </a: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, it’s an AI-powered logistics platform built on Snowflake. It shifts the supply chain model from reactive to predictive and collaborative.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Predictive: </a:t>
            </a:r>
            <a:r>
              <a:rPr lang="en-US" sz="1200" dirty="0" err="1">
                <a:latin typeface="Noto Sans"/>
                <a:ea typeface="Noto Sans"/>
                <a:cs typeface="Noto Sans"/>
                <a:sym typeface="Noto Sans"/>
              </a:rPr>
              <a:t>SwiftStock</a:t>
            </a: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 uses </a:t>
            </a:r>
            <a:r>
              <a:rPr lang="en-US" sz="1200" dirty="0" err="1">
                <a:latin typeface="Noto Sans"/>
                <a:ea typeface="Noto Sans"/>
                <a:cs typeface="Noto Sans"/>
                <a:sym typeface="Noto Sans"/>
              </a:rPr>
              <a:t>snowpark</a:t>
            </a: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 to forecast stockouts </a:t>
            </a:r>
            <a:r>
              <a:rPr lang="en-US" sz="1200" b="1" i="1" dirty="0">
                <a:latin typeface="Noto Sans"/>
                <a:ea typeface="Noto Sans"/>
                <a:cs typeface="Noto Sans"/>
                <a:sym typeface="Noto Sans"/>
              </a:rPr>
              <a:t>before </a:t>
            </a: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they happen.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Collaborative: Enables </a:t>
            </a:r>
            <a:r>
              <a:rPr lang="en-US" sz="1200" b="1" i="1" dirty="0">
                <a:latin typeface="Noto Sans"/>
                <a:ea typeface="Noto Sans"/>
                <a:cs typeface="Noto Sans"/>
                <a:sym typeface="Noto Sans"/>
              </a:rPr>
              <a:t>lateral transfers </a:t>
            </a: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(hospital-to-hospital sharing) to solve shortages in minutes, not days.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Accessible: Democratizes data via a </a:t>
            </a:r>
            <a:r>
              <a:rPr lang="en-US" sz="1200" b="1" dirty="0">
                <a:latin typeface="Noto Sans"/>
                <a:ea typeface="Noto Sans"/>
                <a:cs typeface="Noto Sans"/>
                <a:sym typeface="Noto Sans"/>
              </a:rPr>
              <a:t>Natural Language Chatbot </a:t>
            </a: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for field workers.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65350" y="701175"/>
            <a:ext cx="6647100" cy="1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Noto Sans"/>
                <a:ea typeface="Noto Sans"/>
                <a:cs typeface="Noto Sans"/>
                <a:sym typeface="Noto Sans"/>
              </a:rPr>
              <a:t>Opportunities</a:t>
            </a:r>
            <a:br>
              <a:rPr lang="en-GB" sz="1600" b="1" dirty="0">
                <a:latin typeface="Noto Sans"/>
                <a:ea typeface="Noto Sans"/>
                <a:cs typeface="Noto Sans"/>
                <a:sym typeface="Noto Sans"/>
              </a:rPr>
            </a:br>
            <a:endParaRPr lang="en-ID"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Font typeface="+mj-lt"/>
              <a:buAutoNum type="alphaUcPeriod"/>
            </a:pPr>
            <a:r>
              <a:rPr lang="en-ID" sz="1200" b="1" dirty="0">
                <a:latin typeface="Noto Sans"/>
                <a:ea typeface="Noto Sans"/>
                <a:cs typeface="Noto Sans"/>
                <a:sym typeface="Noto Sans"/>
              </a:rPr>
              <a:t>How different is </a:t>
            </a:r>
            <a:r>
              <a:rPr lang="en-ID" sz="1200" b="1" dirty="0" err="1">
                <a:latin typeface="Noto Sans"/>
                <a:ea typeface="Noto Sans"/>
                <a:cs typeface="Noto Sans"/>
                <a:sym typeface="Noto Sans"/>
              </a:rPr>
              <a:t>SwiftStock</a:t>
            </a:r>
            <a:r>
              <a:rPr lang="en-ID" sz="1200" b="1" dirty="0">
                <a:latin typeface="Noto Sans"/>
                <a:ea typeface="Noto Sans"/>
                <a:cs typeface="Noto Sans"/>
                <a:sym typeface="Noto Sans"/>
              </a:rPr>
              <a:t> from existing ideas?</a:t>
            </a:r>
          </a:p>
          <a:p>
            <a:pPr lvl="1"/>
            <a:endParaRPr lang="en-ID" sz="1200" b="1" dirty="0">
              <a:latin typeface="Noto Sans"/>
              <a:ea typeface="Noto Sans"/>
              <a:cs typeface="Noto Sans"/>
              <a:sym typeface="Noto Sans"/>
            </a:endParaRPr>
          </a:p>
          <a:p>
            <a:pPr lvl="1"/>
            <a:r>
              <a:rPr lang="en-ID" sz="1200" dirty="0">
                <a:latin typeface="Noto Sans"/>
                <a:ea typeface="Noto Sans"/>
                <a:cs typeface="Noto Sans"/>
                <a:sym typeface="Noto Sans"/>
              </a:rPr>
              <a:t>Most existing supply chain management (SCM) solutions are designed for vertical efficiency (</a:t>
            </a: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Optimizing one hospital's link to one supplier) rather than Horizontal Resilience (Optimizing the entire network's ability to share resources). The table below breaks down the comparison between </a:t>
            </a:r>
            <a:r>
              <a:rPr lang="en-US" sz="1200" dirty="0" err="1">
                <a:latin typeface="Noto Sans"/>
                <a:ea typeface="Noto Sans"/>
                <a:cs typeface="Noto Sans"/>
                <a:sym typeface="Noto Sans"/>
              </a:rPr>
              <a:t>SwiftStock</a:t>
            </a:r>
            <a:r>
              <a:rPr lang="en-US" sz="1200" dirty="0">
                <a:latin typeface="Noto Sans"/>
                <a:ea typeface="Noto Sans"/>
                <a:cs typeface="Noto Sans"/>
                <a:sym typeface="Noto Sans"/>
              </a:rPr>
              <a:t> and its existing competitors.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203369F-CF6A-75F9-1D68-A8C8BF85FE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1295997"/>
              </p:ext>
            </p:extLst>
          </p:nvPr>
        </p:nvGraphicFramePr>
        <p:xfrm>
          <a:off x="265350" y="2462022"/>
          <a:ext cx="8640000" cy="250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3479595633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3416592124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358551706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18765821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Feature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The Giants (SAP SCM, Oracle SCM, Microsoft Dynamics)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Healthcare Specialists (Infor </a:t>
                      </a:r>
                      <a:r>
                        <a:rPr lang="en-US" sz="1100" dirty="0" err="1"/>
                        <a:t>CloudSuite</a:t>
                      </a:r>
                      <a:r>
                        <a:rPr lang="en-US" sz="1100" dirty="0"/>
                        <a:t>, Envi, Vizient)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 err="1"/>
                        <a:t>SwiftStock</a:t>
                      </a:r>
                      <a:endParaRPr lang="en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420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Primary Goal</a:t>
                      </a:r>
                      <a:endParaRPr lang="en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ERP &amp; Financial Audit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Procurement Efficiency &amp; Vendor Management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Network Resilience &amp; Hospital-to-Hospital Sharing</a:t>
                      </a:r>
                      <a:endParaRPr lang="en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0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Architecture</a:t>
                      </a:r>
                      <a:endParaRPr lang="en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Siloed &amp; Heavy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Hub and Spoke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Collaborative Mesh</a:t>
                      </a:r>
                      <a:endParaRPr lang="en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038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User Interface</a:t>
                      </a:r>
                      <a:endParaRPr lang="en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Complex Dashboards for Analysts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Desktop Web Portals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Democratized AI: Chatbot-style QA</a:t>
                      </a:r>
                      <a:endParaRPr lang="en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4025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Intelligence</a:t>
                      </a:r>
                      <a:endParaRPr lang="en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Reactive Reporting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Order Automation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(both and…) Predictive Forecasting using Snowpark</a:t>
                      </a:r>
                      <a:endParaRPr lang="en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39440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/>
                        <a:t>Cost/Access</a:t>
                      </a:r>
                      <a:endParaRPr lang="en-ID" sz="11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Multi-million Licenses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Mid-market pricing</a:t>
                      </a:r>
                      <a:endParaRPr lang="en-ID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Usage-Based (Snowflake): scalable for health networks and NGOs</a:t>
                      </a:r>
                      <a:endParaRPr lang="en-ID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706387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73CFFD7B-DFCB-D3A1-AA1C-82BCE098A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AI for good IS S2.png">
            <a:extLst>
              <a:ext uri="{FF2B5EF4-FFF2-40B4-BE49-F238E27FC236}">
                <a16:creationId xmlns:a16="http://schemas.microsoft.com/office/drawing/2014/main" id="{22CCB389-D802-06DE-4451-BEC032BC549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AI for good IS S2.png">
            <a:extLst>
              <a:ext uri="{FF2B5EF4-FFF2-40B4-BE49-F238E27FC236}">
                <a16:creationId xmlns:a16="http://schemas.microsoft.com/office/drawing/2014/main" id="{7225430D-96B0-E4BB-3985-13D82F43B9E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>
            <a:extLst>
              <a:ext uri="{FF2B5EF4-FFF2-40B4-BE49-F238E27FC236}">
                <a16:creationId xmlns:a16="http://schemas.microsoft.com/office/drawing/2014/main" id="{29D5B6F7-B068-F0E0-B1B5-34F215841019}"/>
              </a:ext>
            </a:extLst>
          </p:cNvPr>
          <p:cNvSpPr txBox="1"/>
          <p:nvPr/>
        </p:nvSpPr>
        <p:spPr>
          <a:xfrm>
            <a:off x="265350" y="701174"/>
            <a:ext cx="6647100" cy="2346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latin typeface="Noto Sans"/>
                <a:ea typeface="Noto Sans"/>
                <a:cs typeface="Noto Sans"/>
                <a:sym typeface="Noto Sans"/>
              </a:rPr>
              <a:t>Opportunities</a:t>
            </a:r>
            <a:br>
              <a:rPr lang="en-GB" sz="1600" b="1" dirty="0">
                <a:latin typeface="Noto Sans"/>
                <a:ea typeface="Noto Sans"/>
                <a:cs typeface="Noto Sans"/>
                <a:sym typeface="Noto Sans"/>
              </a:rPr>
            </a:br>
            <a:endParaRPr lang="en-ID"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342900" lvl="0" indent="-342900">
              <a:buFont typeface="+mj-lt"/>
              <a:buAutoNum type="alphaUcPeriod" startAt="2"/>
            </a:pPr>
            <a:r>
              <a:rPr lang="en-ID" sz="1200" b="1" dirty="0">
                <a:latin typeface="Noto Sans"/>
                <a:ea typeface="Noto Sans"/>
                <a:cs typeface="Noto Sans"/>
                <a:sym typeface="Noto Sans"/>
              </a:rPr>
              <a:t>How will </a:t>
            </a:r>
            <a:r>
              <a:rPr lang="en-ID" sz="1200" b="1" dirty="0" err="1">
                <a:latin typeface="Noto Sans"/>
                <a:ea typeface="Noto Sans"/>
                <a:cs typeface="Noto Sans"/>
                <a:sym typeface="Noto Sans"/>
              </a:rPr>
              <a:t>SwiftStock</a:t>
            </a:r>
            <a:r>
              <a:rPr lang="en-ID" sz="1200" b="1" dirty="0">
                <a:latin typeface="Noto Sans"/>
                <a:ea typeface="Noto Sans"/>
                <a:cs typeface="Noto Sans"/>
                <a:sym typeface="Noto Sans"/>
              </a:rPr>
              <a:t> solve the problem?</a:t>
            </a:r>
          </a:p>
          <a:p>
            <a:pPr lvl="1"/>
            <a:endParaRPr lang="en-ID" sz="1200" b="1" dirty="0">
              <a:latin typeface="Noto Sans"/>
              <a:ea typeface="Noto Sans"/>
              <a:cs typeface="Noto Sans"/>
              <a:sym typeface="Noto Sans"/>
            </a:endParaRPr>
          </a:p>
          <a:p>
            <a:pPr lvl="1"/>
            <a:r>
              <a:rPr lang="en-ID" sz="1200" dirty="0" err="1">
                <a:latin typeface="Noto Sans"/>
                <a:ea typeface="Noto Sans"/>
                <a:cs typeface="Noto Sans"/>
                <a:sym typeface="Noto Sans"/>
              </a:rPr>
              <a:t>SwiftStock</a:t>
            </a:r>
            <a:r>
              <a:rPr lang="en-ID" sz="1200" dirty="0">
                <a:latin typeface="Noto Sans"/>
                <a:ea typeface="Noto Sans"/>
                <a:cs typeface="Noto Sans"/>
                <a:sym typeface="Noto Sans"/>
              </a:rPr>
              <a:t> solves the problem by moving from reactive operations to intelligent operations using Snowflake Data Cloud. We utilize </a:t>
            </a:r>
            <a:r>
              <a:rPr lang="en-ID" sz="1200" b="1" dirty="0">
                <a:latin typeface="Noto Sans"/>
                <a:ea typeface="Noto Sans"/>
                <a:cs typeface="Noto Sans"/>
                <a:sym typeface="Noto Sans"/>
              </a:rPr>
              <a:t>Snowflake’s Data Cloud as a unified layer</a:t>
            </a:r>
            <a:r>
              <a:rPr lang="en-ID" sz="1200" dirty="0">
                <a:latin typeface="Noto Sans"/>
                <a:ea typeface="Noto Sans"/>
                <a:cs typeface="Noto Sans"/>
                <a:sym typeface="Noto Sans"/>
              </a:rPr>
              <a:t>, creating a single source of truth without requiring hospitals to replace their legacy ERPs, they just need to push a log. Furthermore, </a:t>
            </a:r>
            <a:r>
              <a:rPr lang="en-ID" sz="1200" dirty="0" err="1">
                <a:latin typeface="Noto Sans"/>
                <a:ea typeface="Noto Sans"/>
                <a:cs typeface="Noto Sans"/>
                <a:sym typeface="Noto Sans"/>
              </a:rPr>
              <a:t>SwiftStock</a:t>
            </a:r>
            <a:r>
              <a:rPr lang="en-ID" sz="1200" dirty="0">
                <a:latin typeface="Noto Sans"/>
                <a:ea typeface="Noto Sans"/>
                <a:cs typeface="Noto Sans"/>
                <a:sym typeface="Noto Sans"/>
              </a:rPr>
              <a:t> introduces </a:t>
            </a:r>
            <a:r>
              <a:rPr lang="en-ID" sz="1200" b="1" dirty="0">
                <a:latin typeface="Noto Sans"/>
                <a:ea typeface="Noto Sans"/>
                <a:cs typeface="Noto Sans"/>
                <a:sym typeface="Noto Sans"/>
              </a:rPr>
              <a:t>predictive analytics </a:t>
            </a:r>
            <a:r>
              <a:rPr lang="en-ID" sz="1200" dirty="0">
                <a:latin typeface="Noto Sans"/>
                <a:ea typeface="Noto Sans"/>
                <a:cs typeface="Noto Sans"/>
                <a:sym typeface="Noto Sans"/>
              </a:rPr>
              <a:t>so it will be able to flag an item as “High Risk” for items that has sudden usage spikes (e.g. 50/day with 2 days left) even if stocks are 100 units, enabling it to capture static rule misses.</a:t>
            </a:r>
          </a:p>
          <a:p>
            <a:pPr lvl="1"/>
            <a:endParaRPr lang="en-ID" sz="1200" b="1" dirty="0">
              <a:latin typeface="Noto Sans"/>
              <a:ea typeface="Noto Sans"/>
              <a:cs typeface="Noto Sans"/>
              <a:sym typeface="Noto Sans"/>
            </a:endParaRPr>
          </a:p>
          <a:p>
            <a:pPr marL="342900" lvl="0" indent="-342900">
              <a:buFont typeface="+mj-lt"/>
              <a:buAutoNum type="alphaUcPeriod" startAt="2"/>
            </a:pPr>
            <a:r>
              <a:rPr lang="en-ID" sz="1200" b="1" dirty="0">
                <a:latin typeface="Noto Sans"/>
                <a:ea typeface="Noto Sans"/>
                <a:cs typeface="Noto Sans"/>
                <a:sym typeface="Noto Sans"/>
              </a:rPr>
              <a:t>What is </a:t>
            </a:r>
            <a:r>
              <a:rPr lang="en-ID" sz="1200" b="1" dirty="0" err="1">
                <a:latin typeface="Noto Sans"/>
                <a:ea typeface="Noto Sans"/>
                <a:cs typeface="Noto Sans"/>
                <a:sym typeface="Noto Sans"/>
              </a:rPr>
              <a:t>SwiftStock’s</a:t>
            </a:r>
            <a:r>
              <a:rPr lang="en-ID" sz="1200" b="1" dirty="0">
                <a:latin typeface="Noto Sans"/>
                <a:ea typeface="Noto Sans"/>
                <a:cs typeface="Noto Sans"/>
                <a:sym typeface="Noto Sans"/>
              </a:rPr>
              <a:t> Unique Selling Point?</a:t>
            </a:r>
          </a:p>
          <a:p>
            <a:pPr lvl="1"/>
            <a:endParaRPr lang="en-ID" sz="1600" b="1" dirty="0">
              <a:latin typeface="Noto Sans"/>
              <a:ea typeface="Noto Sans"/>
              <a:cs typeface="Noto Sans"/>
              <a:sym typeface="Noto Sans"/>
            </a:endParaRPr>
          </a:p>
          <a:p>
            <a:pPr lvl="1"/>
            <a:r>
              <a:rPr lang="en-ID" sz="1200" dirty="0">
                <a:latin typeface="Noto Sans"/>
                <a:ea typeface="Noto Sans"/>
                <a:cs typeface="Noto Sans"/>
                <a:sym typeface="Noto Sans"/>
              </a:rPr>
              <a:t>Our primary USP is the </a:t>
            </a:r>
            <a:r>
              <a:rPr lang="en-ID" sz="1200" b="1" dirty="0">
                <a:latin typeface="Noto Sans"/>
                <a:ea typeface="Noto Sans"/>
                <a:cs typeface="Noto Sans"/>
                <a:sym typeface="Noto Sans"/>
              </a:rPr>
              <a:t>Lateral Transfer Engine</a:t>
            </a:r>
            <a:r>
              <a:rPr lang="en-ID" sz="1200" dirty="0">
                <a:latin typeface="Noto Sans"/>
                <a:ea typeface="Noto Sans"/>
                <a:cs typeface="Noto Sans"/>
                <a:sym typeface="Noto Sans"/>
              </a:rPr>
              <a:t>, </a:t>
            </a:r>
            <a:r>
              <a:rPr lang="en-ID" sz="1200" dirty="0" err="1">
                <a:latin typeface="Noto Sans"/>
                <a:ea typeface="Noto Sans"/>
                <a:cs typeface="Noto Sans"/>
                <a:sym typeface="Noto Sans"/>
              </a:rPr>
              <a:t>SwiftStock</a:t>
            </a:r>
            <a:r>
              <a:rPr lang="en-ID" sz="1200" dirty="0">
                <a:latin typeface="Noto Sans"/>
                <a:ea typeface="Noto Sans"/>
                <a:cs typeface="Noto Sans"/>
                <a:sym typeface="Noto Sans"/>
              </a:rPr>
              <a:t> focuses on making the inter-hospital resource network more resilient. The ability to geographically match a “Victim” hospital with a “Savior” hospital in seconds using Snowflake’s geospatial engine, giving </a:t>
            </a:r>
            <a:r>
              <a:rPr lang="en-ID" sz="1200" dirty="0" err="1">
                <a:latin typeface="Noto Sans"/>
                <a:ea typeface="Noto Sans"/>
                <a:cs typeface="Noto Sans"/>
                <a:sym typeface="Noto Sans"/>
              </a:rPr>
              <a:t>SwiftStock</a:t>
            </a:r>
            <a:r>
              <a:rPr lang="en-ID" sz="1200" dirty="0">
                <a:latin typeface="Noto Sans"/>
                <a:ea typeface="Noto Sans"/>
                <a:cs typeface="Noto Sans"/>
                <a:sym typeface="Noto Sans"/>
              </a:rPr>
              <a:t> the capability that standard inventory systems do not have.</a:t>
            </a:r>
          </a:p>
        </p:txBody>
      </p:sp>
    </p:spTree>
    <p:extLst>
      <p:ext uri="{BB962C8B-B14F-4D97-AF65-F5344CB8AC3E}">
        <p14:creationId xmlns:p14="http://schemas.microsoft.com/office/powerpoint/2010/main" val="95162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List of features offered by the solution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Process flow diagram or Use-case diagram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Architecture diagram of the proposed solution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Tech Stack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Snowflake tools and technology used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Snapshots of the prototype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Estimated implementation cost (optional)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3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Additional Details/Future Development (if any)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265350" y="701175"/>
            <a:ext cx="6647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latin typeface="Noto Sans"/>
                <a:ea typeface="Noto Sans"/>
                <a:cs typeface="Noto Sans"/>
                <a:sym typeface="Noto Sans"/>
              </a:rPr>
              <a:t>GitHub and Demo video URL</a:t>
            </a:r>
            <a:endParaRPr sz="1600" b="1">
              <a:latin typeface="Noto Sans"/>
              <a:ea typeface="Noto Sans"/>
              <a:cs typeface="Noto Sans"/>
              <a:sym typeface="Noto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 title="AI for good IS S2.png"/>
          <p:cNvPicPr preferRelativeResize="0"/>
          <p:nvPr/>
        </p:nvPicPr>
        <p:blipFill rotWithShape="1">
          <a:blip r:embed="rId3">
            <a:alphaModFix/>
          </a:blip>
          <a:srcRect b="89082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 title="AI for good IS S2.png"/>
          <p:cNvPicPr preferRelativeResize="0"/>
          <p:nvPr/>
        </p:nvPicPr>
        <p:blipFill rotWithShape="1">
          <a:blip r:embed="rId3">
            <a:alphaModFix/>
          </a:blip>
          <a:srcRect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265350" y="701175"/>
            <a:ext cx="6647100" cy="4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6" title="AI for good IS S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510</Words>
  <Application>Microsoft Office PowerPoint</Application>
  <PresentationFormat>On-screen Show (16:9)</PresentationFormat>
  <Paragraphs>64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Noto Sans SemiBold</vt:lpstr>
      <vt:lpstr>Noto Sans</vt:lpstr>
      <vt:lpstr>Arial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Dama Dhananjaya Daliman</cp:lastModifiedBy>
  <cp:revision>2</cp:revision>
  <dcterms:modified xsi:type="dcterms:W3CDTF">2026-01-02T12:26:57Z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2026-01-02T12:20:26Z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3598cd7e-0b8a-4f57-9cbd-3cb092d3882e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